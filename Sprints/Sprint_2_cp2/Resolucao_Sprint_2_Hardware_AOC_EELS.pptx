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6" r:id="rId3"/>
    <p:sldId id="260" r:id="rId4"/>
    <p:sldId id="267" r:id="rId5"/>
    <p:sldId id="265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5EB52DD-5ED1-4DAD-2673-0FFB0DEA6E62}" name="Guilherme Macario" initials="GM" userId="f7d209c4a899cfc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FEC630"/>
    <a:srgbClr val="00A0A8"/>
    <a:srgbClr val="5D7373"/>
    <a:srgbClr val="FF5969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>
        <p:scale>
          <a:sx n="75" d="100"/>
          <a:sy n="75" d="100"/>
        </p:scale>
        <p:origin x="195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8A414-8821-4511-A7A2-90B2141E11C2}" type="datetimeFigureOut">
              <a:rPr lang="pt-BR" smtClean="0"/>
              <a:t>17/06/2022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65496E-2270-4965-A989-8E536DB8B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224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F5C08-3AB4-584A-82EF-986663D77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ADF08C-9FA5-D31B-CA9F-A8B9190FA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9CC090F-3998-DD9A-3367-0D8891F9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14EE-B893-4B38-B541-F01260A2112C}" type="datetimeFigureOut">
              <a:rPr lang="pt-BR" smtClean="0"/>
              <a:t>17/06/2022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C67B736-C022-5A01-A05F-19E8189F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F07C317-36E7-A91B-069C-2CC08D032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E5CC-F0C4-4C80-BC8D-63513916BA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9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86FA0-6959-1248-19AB-183AB67B3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5C152C6-7324-F799-C91E-F31EB8AA1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BA85E20-831B-DA54-9D22-5DFD9B618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14EE-B893-4B38-B541-F01260A2112C}" type="datetimeFigureOut">
              <a:rPr lang="pt-BR" smtClean="0"/>
              <a:t>17/06/2022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F0F7A3E-59BB-A948-48FF-A179F8B69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98E0CA9-D0B7-ED40-AA70-EB41C289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E5CC-F0C4-4C80-BC8D-63513916BA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81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7B17-A9DE-84DA-5CDA-39197C20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71E0CA4-513E-1EEE-E6FA-ADEB09FF1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AECCE07-4C98-6826-4B21-9E70749CD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14EE-B893-4B38-B541-F01260A2112C}" type="datetimeFigureOut">
              <a:rPr lang="pt-BR" smtClean="0"/>
              <a:t>17/06/2022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A6EF783-8CB9-24F9-6C25-61F59762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DAC705A-B8A7-448B-80A6-1C708B6AC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E5CC-F0C4-4C80-BC8D-63513916BA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56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77EF8-5FE8-1B44-0461-51E3F748F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42346CA-88BC-76D3-0516-BBFAC185D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0DD8244-8B0E-A0D1-FBC1-5F6784264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43AC4AF-17DB-05F2-979D-A3F182BC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14EE-B893-4B38-B541-F01260A2112C}" type="datetimeFigureOut">
              <a:rPr lang="pt-BR" smtClean="0"/>
              <a:t>17/06/2022</a:t>
            </a:fld>
            <a:endParaRPr lang="pt-BR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5CD63FE-A57A-38B3-1B69-112F9C88D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2E209F0-83D7-0CF6-11A2-3A58B3D60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E5CC-F0C4-4C80-BC8D-63513916BA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7748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BD9F5-1134-EED0-E92E-DBA37D5EF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352F428-1B9C-70E8-C98F-2D8AB5F76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B862E7F-9088-EF65-72A8-9A5FEF03D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904BB207-2F35-500F-08B1-609A93F53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884D819-E8FA-13B1-AD86-C1236BEA5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A1568C34-26DD-85BF-0FAB-7DE4C73C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14EE-B893-4B38-B541-F01260A2112C}" type="datetimeFigureOut">
              <a:rPr lang="pt-BR" smtClean="0"/>
              <a:t>17/06/2022</a:t>
            </a:fld>
            <a:endParaRPr lang="pt-BR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8BF68DF9-0190-5741-EE20-4C4E6A05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3D9CE69-75DC-4C6D-9527-DC1A4C95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E5CC-F0C4-4C80-BC8D-63513916BA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9387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BA3EB-E975-F429-131A-E24FBBB8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63ABCDA2-C68A-C0E9-E571-0502914C7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14EE-B893-4B38-B541-F01260A2112C}" type="datetimeFigureOut">
              <a:rPr lang="pt-BR" smtClean="0"/>
              <a:t>17/06/2022</a:t>
            </a:fld>
            <a:endParaRPr lang="pt-BR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51C4038F-FD3E-AA32-BB4D-0CD012AB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8E495C7-A2F7-1595-43DE-62647435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E5CC-F0C4-4C80-BC8D-63513916BA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653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E66A2B8E-CB9B-0CBE-160E-0FF6F3717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14EE-B893-4B38-B541-F01260A2112C}" type="datetimeFigureOut">
              <a:rPr lang="pt-BR" smtClean="0"/>
              <a:t>17/06/2022</a:t>
            </a:fld>
            <a:endParaRPr lang="pt-BR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72E81A27-D0B4-44A6-2FC4-97E11D4AE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32F1781-2520-948E-0884-5178D3B8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E5CC-F0C4-4C80-BC8D-63513916BA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07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ED0BC-381A-0CBB-4967-5409D95BE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0FE11AC-54E5-309A-624F-B5B1A7684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0D06769-24AB-CF91-74FC-FF12B870E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090F288-4EEF-4530-60E2-B0688C554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14EE-B893-4B38-B541-F01260A2112C}" type="datetimeFigureOut">
              <a:rPr lang="pt-BR" smtClean="0"/>
              <a:t>17/06/2022</a:t>
            </a:fld>
            <a:endParaRPr lang="pt-BR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274F4BC-28CF-3422-7047-9EF7C0253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EC653FF-2FE1-7908-86B1-3CA225A4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E5CC-F0C4-4C80-BC8D-63513916BA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9019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6E201-1701-3AC5-3506-84140D6A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F3F6034-E6D1-F272-5080-7D8095802A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11D9966-FCC0-370C-587C-8DCB9DA41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6D6E425-2E99-172B-746A-D56F0086F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14EE-B893-4B38-B541-F01260A2112C}" type="datetimeFigureOut">
              <a:rPr lang="pt-BR" smtClean="0"/>
              <a:t>17/06/2022</a:t>
            </a:fld>
            <a:endParaRPr lang="pt-BR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4A73ABE-8ABF-B582-69FC-DAB5B84F6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010D054-2078-314C-E7D9-B246CFC4C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E5CC-F0C4-4C80-BC8D-63513916BA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7879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04047-90E8-E66B-0C5F-C47756EB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CF5F444-130F-9F95-1C38-F36981D7D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B008094-119F-6885-D6EE-A52E8752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14EE-B893-4B38-B541-F01260A2112C}" type="datetimeFigureOut">
              <a:rPr lang="pt-BR" smtClean="0"/>
              <a:t>17/06/2022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E797D08-68EE-40ED-9707-5E01C864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F39E68-4D89-4998-4536-0A6D3D8B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E5CC-F0C4-4C80-BC8D-63513916BA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799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91133EC-6EE4-E6F5-3AB0-F209496D3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3E0C484-5685-A10E-40B1-67007DAB9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F632C6A-94E3-A7E6-C898-07A15183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14EE-B893-4B38-B541-F01260A2112C}" type="datetimeFigureOut">
              <a:rPr lang="pt-BR" smtClean="0"/>
              <a:t>17/06/2022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8EBA859-254A-B1A4-4BB6-7355FF35B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79654A4-9E28-A965-58D3-8681ECF97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E5CC-F0C4-4C80-BC8D-63513916BA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878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2B0469F0-44A3-A9D0-540A-8DE5E048B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A9B8340-C914-BECA-9294-DF48BB48C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D01E0E3-3D7C-818B-3BC5-EC4B6C966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314EE-B893-4B38-B541-F01260A2112C}" type="datetimeFigureOut">
              <a:rPr lang="pt-BR" smtClean="0"/>
              <a:t>17/06/2022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6AAE7AB-4C7D-080E-1DD4-52ABC1489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9EA3F61-694A-E520-A76D-C9F61A77C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E5CC-F0C4-4C80-BC8D-63513916BA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42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2CC81E2-5B1D-2F72-4FEC-8C75A86ED82E}"/>
              </a:ext>
            </a:extLst>
          </p:cNvPr>
          <p:cNvGrpSpPr/>
          <p:nvPr/>
        </p:nvGrpSpPr>
        <p:grpSpPr>
          <a:xfrm>
            <a:off x="-8245392" y="0"/>
            <a:ext cx="12052301" cy="6858000"/>
            <a:chOff x="-774252" y="0"/>
            <a:chExt cx="13011006" cy="685800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5D2A29D-9894-0530-B164-0CC7DCDA2975}"/>
                </a:ext>
              </a:extLst>
            </p:cNvPr>
            <p:cNvSpPr/>
            <p:nvPr/>
          </p:nvSpPr>
          <p:spPr>
            <a:xfrm>
              <a:off x="-774252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0E1C027D-19AC-CC0B-3F4B-59D22E0B7069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210224E-EF20-B520-91E2-F97D645EA4C0}"/>
                </a:ext>
              </a:extLst>
            </p:cNvPr>
            <p:cNvSpPr txBox="1"/>
            <p:nvPr/>
          </p:nvSpPr>
          <p:spPr>
            <a:xfrm rot="16200000">
              <a:off x="10604513" y="30801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Proposta</a:t>
              </a:r>
            </a:p>
          </p:txBody>
        </p:sp>
        <p:pic>
          <p:nvPicPr>
            <p:cNvPr id="11" name="Gráfico 10" descr="Lâmpada e engrenagem">
              <a:extLst>
                <a:ext uri="{FF2B5EF4-FFF2-40B4-BE49-F238E27FC236}">
                  <a16:creationId xmlns:a16="http://schemas.microsoft.com/office/drawing/2014/main" id="{C4B7AE4F-C52B-0A26-8F73-76C3E77ED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538482" y="3116847"/>
              <a:ext cx="749968" cy="749968"/>
            </a:xfrm>
            <a:prstGeom prst="rect">
              <a:avLst/>
            </a:prstGeom>
          </p:spPr>
        </p:pic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E2DE75D9-98F4-511E-6702-255EDDDC5526}"/>
              </a:ext>
            </a:extLst>
          </p:cNvPr>
          <p:cNvGrpSpPr/>
          <p:nvPr/>
        </p:nvGrpSpPr>
        <p:grpSpPr>
          <a:xfrm>
            <a:off x="-8246081" y="62830"/>
            <a:ext cx="8293125" cy="6858000"/>
            <a:chOff x="-774253" y="0"/>
            <a:chExt cx="13301840" cy="6858000"/>
          </a:xfrm>
        </p:grpSpPr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6201A515-FDD5-3A70-85D1-F4622F19F475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A68977FC-F110-BD43-5136-CFCE5B88A69B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3C040F3C-4974-9B5D-6DB5-0850361C77A9}"/>
                </a:ext>
              </a:extLst>
            </p:cNvPr>
            <p:cNvSpPr txBox="1"/>
            <p:nvPr/>
          </p:nvSpPr>
          <p:spPr>
            <a:xfrm rot="16200000">
              <a:off x="10895346" y="309917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 err="1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Objeti</a:t>
              </a:r>
              <a:endParaRPr lang="pt-PT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Gráfico 22" descr="Lâmpada e engrenagem">
              <a:extLst>
                <a:ext uri="{FF2B5EF4-FFF2-40B4-BE49-F238E27FC236}">
                  <a16:creationId xmlns:a16="http://schemas.microsoft.com/office/drawing/2014/main" id="{17995DB5-44F1-1735-1109-50CD203CE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DE86098-6D83-031D-AFA1-BADE9B2D3A88}"/>
              </a:ext>
            </a:extLst>
          </p:cNvPr>
          <p:cNvGrpSpPr/>
          <p:nvPr/>
        </p:nvGrpSpPr>
        <p:grpSpPr>
          <a:xfrm>
            <a:off x="-8767607" y="-10692"/>
            <a:ext cx="12034571" cy="6858000"/>
            <a:chOff x="-774253" y="0"/>
            <a:chExt cx="12991866" cy="6858000"/>
          </a:xfrm>
        </p:grpSpPr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2BD1F0C1-B603-CF43-1519-7B4AC0303E58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48E12423-7D87-714D-96FC-174D55CF4EEB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185F81B9-574A-7F34-75A7-3E59767D0892}"/>
                </a:ext>
              </a:extLst>
            </p:cNvPr>
            <p:cNvSpPr txBox="1"/>
            <p:nvPr/>
          </p:nvSpPr>
          <p:spPr>
            <a:xfrm rot="16200000">
              <a:off x="10471407" y="3066759"/>
              <a:ext cx="279466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Cronograma 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28" name="Gráfico 27" descr="Lâmpada e engrenagem">
              <a:extLst>
                <a:ext uri="{FF2B5EF4-FFF2-40B4-BE49-F238E27FC236}">
                  <a16:creationId xmlns:a16="http://schemas.microsoft.com/office/drawing/2014/main" id="{A8B3AD44-E666-C0A9-5F88-453156BA3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3930E377-5411-F673-E2C8-19C81D768466}"/>
              </a:ext>
            </a:extLst>
          </p:cNvPr>
          <p:cNvGrpSpPr/>
          <p:nvPr/>
        </p:nvGrpSpPr>
        <p:grpSpPr>
          <a:xfrm>
            <a:off x="-9240475" y="-4848"/>
            <a:ext cx="12010845" cy="6858000"/>
            <a:chOff x="-774253" y="0"/>
            <a:chExt cx="12966253" cy="6858000"/>
          </a:xfrm>
        </p:grpSpPr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6B422F37-A226-E98F-ADF7-A826DE5B9568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473726E1-9938-F0CB-C8BF-58F621174D7C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3519ED8E-99EB-83AE-0D0D-B3DC6D39AE0C}"/>
                </a:ext>
              </a:extLst>
            </p:cNvPr>
            <p:cNvSpPr txBox="1"/>
            <p:nvPr/>
          </p:nvSpPr>
          <p:spPr>
            <a:xfrm rot="16200000">
              <a:off x="10553154" y="30928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Software</a:t>
              </a:r>
            </a:p>
          </p:txBody>
        </p:sp>
        <p:pic>
          <p:nvPicPr>
            <p:cNvPr id="33" name="Gráfico 32" descr="Lâmpada e engrenagem">
              <a:extLst>
                <a:ext uri="{FF2B5EF4-FFF2-40B4-BE49-F238E27FC236}">
                  <a16:creationId xmlns:a16="http://schemas.microsoft.com/office/drawing/2014/main" id="{CA696E02-3C1F-C4EB-0436-FFD0B1D00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C25484A-2DF1-1551-FC2C-7F006EACB96E}"/>
              </a:ext>
            </a:extLst>
          </p:cNvPr>
          <p:cNvGrpSpPr/>
          <p:nvPr/>
        </p:nvGrpSpPr>
        <p:grpSpPr>
          <a:xfrm>
            <a:off x="-9829635" y="35605"/>
            <a:ext cx="12010846" cy="6858000"/>
            <a:chOff x="-774253" y="0"/>
            <a:chExt cx="12966253" cy="6858000"/>
          </a:xfrm>
        </p:grpSpPr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EC9C90F9-63AB-C311-7A11-A7227A41E3D0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7E0BB04-52D2-F9B2-2BDC-127BC1565B7E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C5BDDA21-5E72-01D0-7234-E5190EB0472E}"/>
                </a:ext>
              </a:extLst>
            </p:cNvPr>
            <p:cNvSpPr txBox="1"/>
            <p:nvPr/>
          </p:nvSpPr>
          <p:spPr>
            <a:xfrm rot="16200000">
              <a:off x="10174070" y="3006758"/>
              <a:ext cx="3250529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Solução</a:t>
              </a:r>
            </a:p>
          </p:txBody>
        </p:sp>
        <p:pic>
          <p:nvPicPr>
            <p:cNvPr id="38" name="Gráfico 37" descr="Lâmpada e engrenagem">
              <a:extLst>
                <a:ext uri="{FF2B5EF4-FFF2-40B4-BE49-F238E27FC236}">
                  <a16:creationId xmlns:a16="http://schemas.microsoft.com/office/drawing/2014/main" id="{33CEF27F-C86F-8881-ADD3-68A0898F8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sp>
        <p:nvSpPr>
          <p:cNvPr id="55" name="TextBox 49">
            <a:extLst>
              <a:ext uri="{FF2B5EF4-FFF2-40B4-BE49-F238E27FC236}">
                <a16:creationId xmlns:a16="http://schemas.microsoft.com/office/drawing/2014/main" id="{3F4062CB-A515-B1D3-BEA6-2ACD196730D7}"/>
              </a:ext>
            </a:extLst>
          </p:cNvPr>
          <p:cNvSpPr txBox="1"/>
          <p:nvPr/>
        </p:nvSpPr>
        <p:spPr>
          <a:xfrm>
            <a:off x="4285155" y="939763"/>
            <a:ext cx="828278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 dirty="0" err="1">
                <a:ln>
                  <a:noFill/>
                </a:ln>
                <a:solidFill>
                  <a:srgbClr val="FF5969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Projeto</a:t>
            </a:r>
            <a:r>
              <a:rPr kumimoji="0" lang="en-US" sz="8800" b="0" i="0" u="none" strike="noStrike" kern="1200" cap="none" spc="0" normalizeH="0" baseline="0" noProof="0" dirty="0">
                <a:ln>
                  <a:noFill/>
                </a:ln>
                <a:solidFill>
                  <a:srgbClr val="FF5969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 dirty="0" err="1">
                <a:ln>
                  <a:noFill/>
                </a:ln>
                <a:solidFill>
                  <a:srgbClr val="FF5969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Exoesqueleto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srgbClr val="FF5969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srgbClr val="FF5969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  <p:sp>
        <p:nvSpPr>
          <p:cNvPr id="56" name="TextBox 57">
            <a:extLst>
              <a:ext uri="{FF2B5EF4-FFF2-40B4-BE49-F238E27FC236}">
                <a16:creationId xmlns:a16="http://schemas.microsoft.com/office/drawing/2014/main" id="{D91FED61-4977-606F-BB5B-EDFCE5D14BE7}"/>
              </a:ext>
            </a:extLst>
          </p:cNvPr>
          <p:cNvSpPr txBox="1"/>
          <p:nvPr/>
        </p:nvSpPr>
        <p:spPr>
          <a:xfrm>
            <a:off x="4132010" y="4554834"/>
            <a:ext cx="8766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D7373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C.K.G.T </a:t>
            </a:r>
          </a:p>
        </p:txBody>
      </p:sp>
      <p:sp>
        <p:nvSpPr>
          <p:cNvPr id="63" name="TextBox 56">
            <a:extLst>
              <a:ext uri="{FF2B5EF4-FFF2-40B4-BE49-F238E27FC236}">
                <a16:creationId xmlns:a16="http://schemas.microsoft.com/office/drawing/2014/main" id="{9DB23244-C5C7-B1CD-5758-B01C802D83D9}"/>
              </a:ext>
            </a:extLst>
          </p:cNvPr>
          <p:cNvSpPr txBox="1"/>
          <p:nvPr/>
        </p:nvSpPr>
        <p:spPr>
          <a:xfrm>
            <a:off x="4913085" y="3690652"/>
            <a:ext cx="72789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4400" b="1" i="0" cap="all" dirty="0">
                <a:solidFill>
                  <a:srgbClr val="E91C5D"/>
                </a:solidFill>
                <a:effectLst/>
                <a:latin typeface="Gotham HTF Bold"/>
              </a:rPr>
              <a:t>CHALLENGE SPRINT - 2</a:t>
            </a:r>
            <a:endParaRPr kumimoji="0" lang="en-US" sz="4100" b="1" i="0" u="none" strike="noStrike" kern="1200" cap="none" spc="0" normalizeH="0" baseline="0" noProof="0" dirty="0">
              <a:ln>
                <a:noFill/>
              </a:ln>
              <a:solidFill>
                <a:srgbClr val="52CBBE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834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2CC81E2-5B1D-2F72-4FEC-8C75A86ED82E}"/>
              </a:ext>
            </a:extLst>
          </p:cNvPr>
          <p:cNvGrpSpPr/>
          <p:nvPr/>
        </p:nvGrpSpPr>
        <p:grpSpPr>
          <a:xfrm>
            <a:off x="69849" y="-26069"/>
            <a:ext cx="12052301" cy="6858000"/>
            <a:chOff x="-774252" y="0"/>
            <a:chExt cx="13011006" cy="685800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5D2A29D-9894-0530-B164-0CC7DCDA2975}"/>
                </a:ext>
              </a:extLst>
            </p:cNvPr>
            <p:cNvSpPr/>
            <p:nvPr/>
          </p:nvSpPr>
          <p:spPr>
            <a:xfrm>
              <a:off x="-774252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0E1C027D-19AC-CC0B-3F4B-59D22E0B7069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210224E-EF20-B520-91E2-F97D645EA4C0}"/>
                </a:ext>
              </a:extLst>
            </p:cNvPr>
            <p:cNvSpPr txBox="1"/>
            <p:nvPr/>
          </p:nvSpPr>
          <p:spPr>
            <a:xfrm rot="16200000">
              <a:off x="10604513" y="30801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Proposta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Gráfico 10" descr="Lâmpada e engrenagem">
              <a:extLst>
                <a:ext uri="{FF2B5EF4-FFF2-40B4-BE49-F238E27FC236}">
                  <a16:creationId xmlns:a16="http://schemas.microsoft.com/office/drawing/2014/main" id="{C4B7AE4F-C52B-0A26-8F73-76C3E77ED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538482" y="3116847"/>
              <a:ext cx="749968" cy="749968"/>
            </a:xfrm>
            <a:prstGeom prst="rect">
              <a:avLst/>
            </a:prstGeom>
          </p:spPr>
        </p:pic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DE86098-6D83-031D-AFA1-BADE9B2D3A88}"/>
              </a:ext>
            </a:extLst>
          </p:cNvPr>
          <p:cNvGrpSpPr/>
          <p:nvPr/>
        </p:nvGrpSpPr>
        <p:grpSpPr>
          <a:xfrm>
            <a:off x="-9350747" y="-26069"/>
            <a:ext cx="12034571" cy="6858000"/>
            <a:chOff x="-774253" y="0"/>
            <a:chExt cx="12991866" cy="6858000"/>
          </a:xfrm>
        </p:grpSpPr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2BD1F0C1-B603-CF43-1519-7B4AC0303E58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48E12423-7D87-714D-96FC-174D55CF4EEB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185F81B9-574A-7F34-75A7-3E59767D0892}"/>
                </a:ext>
              </a:extLst>
            </p:cNvPr>
            <p:cNvSpPr txBox="1"/>
            <p:nvPr/>
          </p:nvSpPr>
          <p:spPr>
            <a:xfrm rot="16200000">
              <a:off x="10471407" y="3066759"/>
              <a:ext cx="279466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Cronograma</a:t>
              </a:r>
            </a:p>
          </p:txBody>
        </p:sp>
        <p:pic>
          <p:nvPicPr>
            <p:cNvPr id="28" name="Gráfico 27" descr="Lâmpada e engrenagem">
              <a:extLst>
                <a:ext uri="{FF2B5EF4-FFF2-40B4-BE49-F238E27FC236}">
                  <a16:creationId xmlns:a16="http://schemas.microsoft.com/office/drawing/2014/main" id="{A8B3AD44-E666-C0A9-5F88-453156BA3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3930E377-5411-F673-E2C8-19C81D768466}"/>
              </a:ext>
            </a:extLst>
          </p:cNvPr>
          <p:cNvGrpSpPr/>
          <p:nvPr/>
        </p:nvGrpSpPr>
        <p:grpSpPr>
          <a:xfrm>
            <a:off x="-9825509" y="-26069"/>
            <a:ext cx="12010845" cy="6858000"/>
            <a:chOff x="-774253" y="0"/>
            <a:chExt cx="12966253" cy="6858000"/>
          </a:xfrm>
        </p:grpSpPr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6B422F37-A226-E98F-ADF7-A826DE5B9568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473726E1-9938-F0CB-C8BF-58F621174D7C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3519ED8E-99EB-83AE-0D0D-B3DC6D39AE0C}"/>
                </a:ext>
              </a:extLst>
            </p:cNvPr>
            <p:cNvSpPr txBox="1"/>
            <p:nvPr/>
          </p:nvSpPr>
          <p:spPr>
            <a:xfrm rot="16200000">
              <a:off x="10553154" y="30928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Software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Gráfico 32" descr="Lâmpada e engrenagem">
              <a:extLst>
                <a:ext uri="{FF2B5EF4-FFF2-40B4-BE49-F238E27FC236}">
                  <a16:creationId xmlns:a16="http://schemas.microsoft.com/office/drawing/2014/main" id="{CA696E02-3C1F-C4EB-0436-FFD0B1D00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C25484A-2DF1-1551-FC2C-7F006EACB96E}"/>
              </a:ext>
            </a:extLst>
          </p:cNvPr>
          <p:cNvGrpSpPr/>
          <p:nvPr/>
        </p:nvGrpSpPr>
        <p:grpSpPr>
          <a:xfrm>
            <a:off x="-10323998" y="-26069"/>
            <a:ext cx="12021952" cy="6858000"/>
            <a:chOff x="-774253" y="0"/>
            <a:chExt cx="12978243" cy="6858000"/>
          </a:xfrm>
        </p:grpSpPr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EC9C90F9-63AB-C311-7A11-A7227A41E3D0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7E0BB04-52D2-F9B2-2BDC-127BC1565B7E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C5BDDA21-5E72-01D0-7234-E5190EB0472E}"/>
                </a:ext>
              </a:extLst>
            </p:cNvPr>
            <p:cNvSpPr txBox="1"/>
            <p:nvPr/>
          </p:nvSpPr>
          <p:spPr>
            <a:xfrm rot="16200000">
              <a:off x="10571749" y="30801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Solução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8" name="Gráfico 37" descr="Lâmpada e engrenagem">
              <a:extLst>
                <a:ext uri="{FF2B5EF4-FFF2-40B4-BE49-F238E27FC236}">
                  <a16:creationId xmlns:a16="http://schemas.microsoft.com/office/drawing/2014/main" id="{33CEF27F-C86F-8881-ADD3-68A0898F8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B27E72-4FC5-9F60-899B-BD3A6BBFCCDB}"/>
              </a:ext>
            </a:extLst>
          </p:cNvPr>
          <p:cNvSpPr txBox="1"/>
          <p:nvPr/>
        </p:nvSpPr>
        <p:spPr>
          <a:xfrm>
            <a:off x="3423684" y="382772"/>
            <a:ext cx="69883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Exoesqueleto para fisioterapia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36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Articulação do Joelho.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36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Ajudar o movimento.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62601AA-BFBB-8F96-FA93-D2CB3BDAD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948" y="3985184"/>
            <a:ext cx="6014398" cy="28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89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2CC81E2-5B1D-2F72-4FEC-8C75A86ED82E}"/>
              </a:ext>
            </a:extLst>
          </p:cNvPr>
          <p:cNvGrpSpPr/>
          <p:nvPr/>
        </p:nvGrpSpPr>
        <p:grpSpPr>
          <a:xfrm>
            <a:off x="139699" y="-26069"/>
            <a:ext cx="12052299" cy="6858000"/>
            <a:chOff x="-774252" y="0"/>
            <a:chExt cx="13011006" cy="685800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5D2A29D-9894-0530-B164-0CC7DCDA2975}"/>
                </a:ext>
              </a:extLst>
            </p:cNvPr>
            <p:cNvSpPr/>
            <p:nvPr/>
          </p:nvSpPr>
          <p:spPr>
            <a:xfrm>
              <a:off x="-774252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0E1C027D-19AC-CC0B-3F4B-59D22E0B7069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210224E-EF20-B520-91E2-F97D645EA4C0}"/>
                </a:ext>
              </a:extLst>
            </p:cNvPr>
            <p:cNvSpPr txBox="1"/>
            <p:nvPr/>
          </p:nvSpPr>
          <p:spPr>
            <a:xfrm rot="16200000">
              <a:off x="10604513" y="30801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Introdução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Gráfico 10" descr="Lâmpada e engrenagem">
              <a:extLst>
                <a:ext uri="{FF2B5EF4-FFF2-40B4-BE49-F238E27FC236}">
                  <a16:creationId xmlns:a16="http://schemas.microsoft.com/office/drawing/2014/main" id="{C4B7AE4F-C52B-0A26-8F73-76C3E77ED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538482" y="3116847"/>
              <a:ext cx="749968" cy="749968"/>
            </a:xfrm>
            <a:prstGeom prst="rect">
              <a:avLst/>
            </a:prstGeom>
          </p:spPr>
        </p:pic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DE86098-6D83-031D-AFA1-BADE9B2D3A88}"/>
              </a:ext>
            </a:extLst>
          </p:cNvPr>
          <p:cNvGrpSpPr/>
          <p:nvPr/>
        </p:nvGrpSpPr>
        <p:grpSpPr>
          <a:xfrm>
            <a:off x="-382516" y="0"/>
            <a:ext cx="12034571" cy="6858000"/>
            <a:chOff x="-774253" y="0"/>
            <a:chExt cx="12991866" cy="6858000"/>
          </a:xfrm>
        </p:grpSpPr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2BD1F0C1-B603-CF43-1519-7B4AC0303E58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48E12423-7D87-714D-96FC-174D55CF4EEB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185F81B9-574A-7F34-75A7-3E59767D0892}"/>
                </a:ext>
              </a:extLst>
            </p:cNvPr>
            <p:cNvSpPr txBox="1"/>
            <p:nvPr/>
          </p:nvSpPr>
          <p:spPr>
            <a:xfrm rot="16200000">
              <a:off x="10471407" y="3066759"/>
              <a:ext cx="279466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Cronograma</a:t>
              </a:r>
            </a:p>
          </p:txBody>
        </p:sp>
        <p:pic>
          <p:nvPicPr>
            <p:cNvPr id="28" name="Gráfico 27" descr="Lâmpada e engrenagem">
              <a:extLst>
                <a:ext uri="{FF2B5EF4-FFF2-40B4-BE49-F238E27FC236}">
                  <a16:creationId xmlns:a16="http://schemas.microsoft.com/office/drawing/2014/main" id="{A8B3AD44-E666-C0A9-5F88-453156BA3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3930E377-5411-F673-E2C8-19C81D768466}"/>
              </a:ext>
            </a:extLst>
          </p:cNvPr>
          <p:cNvGrpSpPr/>
          <p:nvPr/>
        </p:nvGrpSpPr>
        <p:grpSpPr>
          <a:xfrm>
            <a:off x="-9825509" y="-26069"/>
            <a:ext cx="12010847" cy="6858000"/>
            <a:chOff x="-774253" y="0"/>
            <a:chExt cx="12966253" cy="6858000"/>
          </a:xfrm>
        </p:grpSpPr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6B422F37-A226-E98F-ADF7-A826DE5B9568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473726E1-9938-F0CB-C8BF-58F621174D7C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3519ED8E-99EB-83AE-0D0D-B3DC6D39AE0C}"/>
                </a:ext>
              </a:extLst>
            </p:cNvPr>
            <p:cNvSpPr txBox="1"/>
            <p:nvPr/>
          </p:nvSpPr>
          <p:spPr>
            <a:xfrm rot="16200000">
              <a:off x="10553154" y="30928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Software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Gráfico 32" descr="Lâmpada e engrenagem">
              <a:extLst>
                <a:ext uri="{FF2B5EF4-FFF2-40B4-BE49-F238E27FC236}">
                  <a16:creationId xmlns:a16="http://schemas.microsoft.com/office/drawing/2014/main" id="{CA696E02-3C1F-C4EB-0436-FFD0B1D00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C25484A-2DF1-1551-FC2C-7F006EACB96E}"/>
              </a:ext>
            </a:extLst>
          </p:cNvPr>
          <p:cNvGrpSpPr/>
          <p:nvPr/>
        </p:nvGrpSpPr>
        <p:grpSpPr>
          <a:xfrm>
            <a:off x="-10323998" y="-26069"/>
            <a:ext cx="12021949" cy="6858000"/>
            <a:chOff x="-774253" y="0"/>
            <a:chExt cx="12978243" cy="6858000"/>
          </a:xfrm>
        </p:grpSpPr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EC9C90F9-63AB-C311-7A11-A7227A41E3D0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7E0BB04-52D2-F9B2-2BDC-127BC1565B7E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C5BDDA21-5E72-01D0-7234-E5190EB0472E}"/>
                </a:ext>
              </a:extLst>
            </p:cNvPr>
            <p:cNvSpPr txBox="1"/>
            <p:nvPr/>
          </p:nvSpPr>
          <p:spPr>
            <a:xfrm rot="16200000">
              <a:off x="10571749" y="30801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Solução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8" name="Gráfico 37" descr="Lâmpada e engrenagem">
              <a:extLst>
                <a:ext uri="{FF2B5EF4-FFF2-40B4-BE49-F238E27FC236}">
                  <a16:creationId xmlns:a16="http://schemas.microsoft.com/office/drawing/2014/main" id="{33CEF27F-C86F-8881-ADD3-68A0898F8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F864DA-42D6-8CA4-D8CA-C983AE83C100}"/>
              </a:ext>
            </a:extLst>
          </p:cNvPr>
          <p:cNvSpPr txBox="1"/>
          <p:nvPr/>
        </p:nvSpPr>
        <p:spPr>
          <a:xfrm>
            <a:off x="2530549" y="425302"/>
            <a:ext cx="713928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Desenvolvimento do Software.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PT" sz="36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Mudanças necessárias.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PT" sz="36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Impressão do protótipo.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PT" sz="36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Implementação do hardware e software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PT" sz="36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Testes finais.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PT" sz="360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413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2CC81E2-5B1D-2F72-4FEC-8C75A86ED82E}"/>
              </a:ext>
            </a:extLst>
          </p:cNvPr>
          <p:cNvGrpSpPr/>
          <p:nvPr/>
        </p:nvGrpSpPr>
        <p:grpSpPr>
          <a:xfrm>
            <a:off x="139699" y="-26069"/>
            <a:ext cx="12052299" cy="6858000"/>
            <a:chOff x="-774252" y="0"/>
            <a:chExt cx="13011006" cy="685800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5D2A29D-9894-0530-B164-0CC7DCDA2975}"/>
                </a:ext>
              </a:extLst>
            </p:cNvPr>
            <p:cNvSpPr/>
            <p:nvPr/>
          </p:nvSpPr>
          <p:spPr>
            <a:xfrm>
              <a:off x="-774252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0E1C027D-19AC-CC0B-3F4B-59D22E0B7069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210224E-EF20-B520-91E2-F97D645EA4C0}"/>
                </a:ext>
              </a:extLst>
            </p:cNvPr>
            <p:cNvSpPr txBox="1"/>
            <p:nvPr/>
          </p:nvSpPr>
          <p:spPr>
            <a:xfrm rot="16200000">
              <a:off x="10604513" y="30801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Introdução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Gráfico 10" descr="Lâmpada e engrenagem">
              <a:extLst>
                <a:ext uri="{FF2B5EF4-FFF2-40B4-BE49-F238E27FC236}">
                  <a16:creationId xmlns:a16="http://schemas.microsoft.com/office/drawing/2014/main" id="{C4B7AE4F-C52B-0A26-8F73-76C3E77ED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538482" y="3116847"/>
              <a:ext cx="749968" cy="749968"/>
            </a:xfrm>
            <a:prstGeom prst="rect">
              <a:avLst/>
            </a:prstGeom>
          </p:spPr>
        </p:pic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DE86098-6D83-031D-AFA1-BADE9B2D3A88}"/>
              </a:ext>
            </a:extLst>
          </p:cNvPr>
          <p:cNvGrpSpPr/>
          <p:nvPr/>
        </p:nvGrpSpPr>
        <p:grpSpPr>
          <a:xfrm>
            <a:off x="-382516" y="0"/>
            <a:ext cx="12034571" cy="6858000"/>
            <a:chOff x="-774253" y="0"/>
            <a:chExt cx="12991866" cy="6858000"/>
          </a:xfrm>
        </p:grpSpPr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2BD1F0C1-B603-CF43-1519-7B4AC0303E58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48E12423-7D87-714D-96FC-174D55CF4EEB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185F81B9-574A-7F34-75A7-3E59767D0892}"/>
                </a:ext>
              </a:extLst>
            </p:cNvPr>
            <p:cNvSpPr txBox="1"/>
            <p:nvPr/>
          </p:nvSpPr>
          <p:spPr>
            <a:xfrm rot="16200000">
              <a:off x="10471407" y="3066759"/>
              <a:ext cx="279466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Cronograma</a:t>
              </a:r>
            </a:p>
          </p:txBody>
        </p:sp>
        <p:pic>
          <p:nvPicPr>
            <p:cNvPr id="28" name="Gráfico 27" descr="Lâmpada e engrenagem">
              <a:extLst>
                <a:ext uri="{FF2B5EF4-FFF2-40B4-BE49-F238E27FC236}">
                  <a16:creationId xmlns:a16="http://schemas.microsoft.com/office/drawing/2014/main" id="{A8B3AD44-E666-C0A9-5F88-453156BA3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3930E377-5411-F673-E2C8-19C81D768466}"/>
              </a:ext>
            </a:extLst>
          </p:cNvPr>
          <p:cNvGrpSpPr/>
          <p:nvPr/>
        </p:nvGrpSpPr>
        <p:grpSpPr>
          <a:xfrm>
            <a:off x="-870466" y="26069"/>
            <a:ext cx="12010847" cy="6858000"/>
            <a:chOff x="-774253" y="0"/>
            <a:chExt cx="12966253" cy="6858000"/>
          </a:xfrm>
        </p:grpSpPr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6B422F37-A226-E98F-ADF7-A826DE5B9568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473726E1-9938-F0CB-C8BF-58F621174D7C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3519ED8E-99EB-83AE-0D0D-B3DC6D39AE0C}"/>
                </a:ext>
              </a:extLst>
            </p:cNvPr>
            <p:cNvSpPr txBox="1"/>
            <p:nvPr/>
          </p:nvSpPr>
          <p:spPr>
            <a:xfrm rot="16200000">
              <a:off x="10553154" y="30928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Software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Gráfico 32" descr="Lâmpada e engrenagem">
              <a:extLst>
                <a:ext uri="{FF2B5EF4-FFF2-40B4-BE49-F238E27FC236}">
                  <a16:creationId xmlns:a16="http://schemas.microsoft.com/office/drawing/2014/main" id="{CA696E02-3C1F-C4EB-0436-FFD0B1D00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A360683-0679-B01D-19AC-959B5F098E87}"/>
              </a:ext>
            </a:extLst>
          </p:cNvPr>
          <p:cNvSpPr txBox="1"/>
          <p:nvPr/>
        </p:nvSpPr>
        <p:spPr>
          <a:xfrm>
            <a:off x="139699" y="179522"/>
            <a:ext cx="70314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 err="1">
                <a:solidFill>
                  <a:schemeClr val="bg1"/>
                </a:solidFill>
                <a:latin typeface="Tw Cen MT" panose="020B0602020104020603" pitchFamily="34" charset="0"/>
              </a:rPr>
              <a:t>Arduino</a:t>
            </a: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 Uno.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Deslocador Linear.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Fonte externa (Pilhas AA).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Modulo BTS 7960.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 err="1">
                <a:solidFill>
                  <a:schemeClr val="bg1"/>
                </a:solidFill>
                <a:latin typeface="Tw Cen MT" panose="020B0602020104020603" pitchFamily="34" charset="0"/>
              </a:rPr>
              <a:t>Jumper</a:t>
            </a: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 </a:t>
            </a:r>
            <a:r>
              <a:rPr lang="pt-PT" sz="3600" dirty="0" err="1">
                <a:solidFill>
                  <a:schemeClr val="bg1"/>
                </a:solidFill>
                <a:latin typeface="Tw Cen MT" panose="020B0602020104020603" pitchFamily="34" charset="0"/>
              </a:rPr>
              <a:t>Arduinos</a:t>
            </a: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 (</a:t>
            </a:r>
            <a:r>
              <a:rPr lang="pt-PT" sz="3600" dirty="0" err="1">
                <a:solidFill>
                  <a:schemeClr val="bg1"/>
                </a:solidFill>
                <a:latin typeface="Tw Cen MT" panose="020B0602020104020603" pitchFamily="34" charset="0"/>
              </a:rPr>
              <a:t>FxF</a:t>
            </a: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 ou </a:t>
            </a:r>
            <a:r>
              <a:rPr lang="pt-PT" sz="3600" dirty="0" err="1">
                <a:solidFill>
                  <a:schemeClr val="bg1"/>
                </a:solidFill>
                <a:latin typeface="Tw Cen MT" panose="020B0602020104020603" pitchFamily="34" charset="0"/>
              </a:rPr>
              <a:t>MxF</a:t>
            </a: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 err="1">
                <a:solidFill>
                  <a:schemeClr val="bg1"/>
                </a:solidFill>
                <a:latin typeface="Tw Cen MT" panose="020B0602020104020603" pitchFamily="34" charset="0"/>
              </a:rPr>
              <a:t>Protoboard</a:t>
            </a: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Software.</a:t>
            </a: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66244AB7-86F3-A8B3-20E7-0EAF23005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359" y="4738163"/>
            <a:ext cx="1604843" cy="151219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63849F16-963D-0ABB-F047-CA2F79AEB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551" y="4755942"/>
            <a:ext cx="1863989" cy="1512198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3AE0042D-B1D0-1855-4FB3-D89E029264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2594" y="4738163"/>
            <a:ext cx="2071019" cy="1505453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0B4F6C09-2E14-3A05-E828-A4CD99A200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8763" y="4731418"/>
            <a:ext cx="2476715" cy="1512198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165B8B52-C1A1-7364-6B7E-7A756AC55B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6865" y="128195"/>
            <a:ext cx="2171605" cy="1827768"/>
          </a:xfrm>
          <a:prstGeom prst="rect">
            <a:avLst/>
          </a:prstGeom>
        </p:spPr>
      </p:pic>
      <p:sp>
        <p:nvSpPr>
          <p:cNvPr id="44" name="CaixaDeTexto 43">
            <a:extLst>
              <a:ext uri="{FF2B5EF4-FFF2-40B4-BE49-F238E27FC236}">
                <a16:creationId xmlns:a16="http://schemas.microsoft.com/office/drawing/2014/main" id="{476DD7AC-460F-F5BA-CFF7-B8A73639DDDE}"/>
              </a:ext>
            </a:extLst>
          </p:cNvPr>
          <p:cNvSpPr txBox="1"/>
          <p:nvPr/>
        </p:nvSpPr>
        <p:spPr>
          <a:xfrm>
            <a:off x="199483" y="6248081"/>
            <a:ext cx="1937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Arduino Uno 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E9A071AA-E4DB-B385-6EC2-DBB7D1DABF95}"/>
              </a:ext>
            </a:extLst>
          </p:cNvPr>
          <p:cNvSpPr txBox="1"/>
          <p:nvPr/>
        </p:nvSpPr>
        <p:spPr>
          <a:xfrm>
            <a:off x="2229166" y="6230302"/>
            <a:ext cx="1937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BTS 7960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FC57A90-E284-84DC-B0D7-14A80307C3B0}"/>
              </a:ext>
            </a:extLst>
          </p:cNvPr>
          <p:cNvSpPr txBox="1"/>
          <p:nvPr/>
        </p:nvSpPr>
        <p:spPr>
          <a:xfrm>
            <a:off x="4222800" y="6223556"/>
            <a:ext cx="1937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Suporte pilha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F3806C5-3BEF-F329-8EDD-726B3B646BB0}"/>
              </a:ext>
            </a:extLst>
          </p:cNvPr>
          <p:cNvSpPr txBox="1"/>
          <p:nvPr/>
        </p:nvSpPr>
        <p:spPr>
          <a:xfrm>
            <a:off x="6550432" y="6268140"/>
            <a:ext cx="2741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Deslocador Linear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836B4C5F-5649-F9E1-FF4F-125A68CF3989}"/>
              </a:ext>
            </a:extLst>
          </p:cNvPr>
          <p:cNvSpPr txBox="1"/>
          <p:nvPr/>
        </p:nvSpPr>
        <p:spPr>
          <a:xfrm>
            <a:off x="7133739" y="2021059"/>
            <a:ext cx="1937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Protoboard</a:t>
            </a:r>
          </a:p>
        </p:txBody>
      </p:sp>
      <p:pic>
        <p:nvPicPr>
          <p:cNvPr id="49" name="Imagem 48">
            <a:extLst>
              <a:ext uri="{FF2B5EF4-FFF2-40B4-BE49-F238E27FC236}">
                <a16:creationId xmlns:a16="http://schemas.microsoft.com/office/drawing/2014/main" id="{1ED95274-0534-73D7-5E8D-0B0BCABEFB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1176" y="2795608"/>
            <a:ext cx="2136052" cy="1537244"/>
          </a:xfrm>
          <a:prstGeom prst="rect">
            <a:avLst/>
          </a:prstGeom>
        </p:spPr>
      </p:pic>
      <p:sp>
        <p:nvSpPr>
          <p:cNvPr id="50" name="CaixaDeTexto 49">
            <a:extLst>
              <a:ext uri="{FF2B5EF4-FFF2-40B4-BE49-F238E27FC236}">
                <a16:creationId xmlns:a16="http://schemas.microsoft.com/office/drawing/2014/main" id="{57244D1D-3416-139F-7C6D-2A39946A4ACA}"/>
              </a:ext>
            </a:extLst>
          </p:cNvPr>
          <p:cNvSpPr txBox="1"/>
          <p:nvPr/>
        </p:nvSpPr>
        <p:spPr>
          <a:xfrm>
            <a:off x="7628521" y="4291692"/>
            <a:ext cx="17421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Jumper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5887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2BD1F0C1-B603-CF43-1519-7B4AC0303E58}"/>
              </a:ext>
            </a:extLst>
          </p:cNvPr>
          <p:cNvSpPr/>
          <p:nvPr/>
        </p:nvSpPr>
        <p:spPr>
          <a:xfrm>
            <a:off x="0" y="-46384"/>
            <a:ext cx="12191999" cy="6904384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254000" dist="1905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F42E7D16-8A80-A587-7664-52BF7E93C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39" y="453111"/>
            <a:ext cx="4274990" cy="2333097"/>
          </a:xfrm>
          <a:prstGeom prst="rect">
            <a:avLst/>
          </a:prstGeom>
        </p:spPr>
      </p:pic>
      <p:sp>
        <p:nvSpPr>
          <p:cNvPr id="42" name="CaixaDeTexto 41">
            <a:extLst>
              <a:ext uri="{FF2B5EF4-FFF2-40B4-BE49-F238E27FC236}">
                <a16:creationId xmlns:a16="http://schemas.microsoft.com/office/drawing/2014/main" id="{A70B269F-FF93-8F94-FD83-8AE2D9BCCB37}"/>
              </a:ext>
            </a:extLst>
          </p:cNvPr>
          <p:cNvSpPr txBox="1"/>
          <p:nvPr/>
        </p:nvSpPr>
        <p:spPr>
          <a:xfrm>
            <a:off x="5455852" y="2793633"/>
            <a:ext cx="4914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Desenho Técnico – Fonte externa 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58EFB14E-DD8E-0A8B-418E-1EA1458D63F7}"/>
              </a:ext>
            </a:extLst>
          </p:cNvPr>
          <p:cNvSpPr txBox="1"/>
          <p:nvPr/>
        </p:nvSpPr>
        <p:spPr>
          <a:xfrm>
            <a:off x="1130364" y="2822083"/>
            <a:ext cx="2793795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Fonte Externa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E4E0615C-A3F9-036A-F51F-28A344965911}"/>
              </a:ext>
            </a:extLst>
          </p:cNvPr>
          <p:cNvSpPr txBox="1"/>
          <p:nvPr/>
        </p:nvSpPr>
        <p:spPr>
          <a:xfrm>
            <a:off x="1620960" y="6056351"/>
            <a:ext cx="25674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IDE Arduino 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198D3FC-07C5-CAAD-1714-FA1CC0F94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182" y="357021"/>
            <a:ext cx="4676010" cy="231981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3F6A293-323B-3062-8949-1BA8CC216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182" y="3574252"/>
            <a:ext cx="4676009" cy="2319812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0907B520-04DB-0099-6425-A937C9FC4C3D}"/>
              </a:ext>
            </a:extLst>
          </p:cNvPr>
          <p:cNvSpPr txBox="1"/>
          <p:nvPr/>
        </p:nvSpPr>
        <p:spPr>
          <a:xfrm>
            <a:off x="5809412" y="6056351"/>
            <a:ext cx="48737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Desenho Técnico – IDE Arduino</a:t>
            </a:r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EE331DB-07B0-9190-04F1-E58D47630B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226" y="3487337"/>
            <a:ext cx="4538017" cy="2533943"/>
          </a:xfrm>
          <a:prstGeom prst="rect">
            <a:avLst/>
          </a:prstGeom>
        </p:spPr>
      </p:pic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C96B98CE-2435-A9EC-FDD3-BABD22A77B97}"/>
              </a:ext>
            </a:extLst>
          </p:cNvPr>
          <p:cNvSpPr/>
          <p:nvPr/>
        </p:nvSpPr>
        <p:spPr>
          <a:xfrm>
            <a:off x="10642112" y="1878357"/>
            <a:ext cx="1530587" cy="3304676"/>
          </a:xfrm>
          <a:custGeom>
            <a:avLst/>
            <a:gdLst>
              <a:gd name="connsiteX0" fmla="*/ 1171074 w 1171074"/>
              <a:gd name="connsiteY0" fmla="*/ 0 h 2342148"/>
              <a:gd name="connsiteX1" fmla="*/ 1171074 w 1171074"/>
              <a:gd name="connsiteY1" fmla="*/ 2342148 h 2342148"/>
              <a:gd name="connsiteX2" fmla="*/ 0 w 1171074"/>
              <a:gd name="connsiteY2" fmla="*/ 1171074 h 2342148"/>
              <a:gd name="connsiteX3" fmla="*/ 1171074 w 1171074"/>
              <a:gd name="connsiteY3" fmla="*/ 0 h 2342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1074" h="2342148">
                <a:moveTo>
                  <a:pt x="1171074" y="0"/>
                </a:moveTo>
                <a:lnTo>
                  <a:pt x="1171074" y="2342148"/>
                </a:lnTo>
                <a:cubicBezTo>
                  <a:pt x="524308" y="2342148"/>
                  <a:pt x="0" y="1817840"/>
                  <a:pt x="0" y="1171074"/>
                </a:cubicBezTo>
                <a:cubicBezTo>
                  <a:pt x="0" y="524308"/>
                  <a:pt x="524308" y="0"/>
                  <a:pt x="1171074" y="0"/>
                </a:cubicBezTo>
                <a:close/>
              </a:path>
            </a:pathLst>
          </a:custGeom>
          <a:solidFill>
            <a:srgbClr val="FEC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/>
          </a:p>
        </p:txBody>
      </p:sp>
      <p:pic>
        <p:nvPicPr>
          <p:cNvPr id="38" name="Gráfico 37" descr="Lâmpada e engrenagem">
            <a:extLst>
              <a:ext uri="{FF2B5EF4-FFF2-40B4-BE49-F238E27FC236}">
                <a16:creationId xmlns:a16="http://schemas.microsoft.com/office/drawing/2014/main" id="{3C85C2F8-8641-2CEE-B0B9-0AB94BBB78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0657063" y="3152989"/>
            <a:ext cx="755040" cy="755413"/>
          </a:xfrm>
          <a:prstGeom prst="rect">
            <a:avLst/>
          </a:prstGeom>
        </p:spPr>
      </p:pic>
      <p:sp>
        <p:nvSpPr>
          <p:cNvPr id="41" name="CaixaDeTexto 40">
            <a:extLst>
              <a:ext uri="{FF2B5EF4-FFF2-40B4-BE49-F238E27FC236}">
                <a16:creationId xmlns:a16="http://schemas.microsoft.com/office/drawing/2014/main" id="{871D2EDB-15DE-B595-C0A5-B45D0CF418DE}"/>
              </a:ext>
            </a:extLst>
          </p:cNvPr>
          <p:cNvSpPr txBox="1"/>
          <p:nvPr/>
        </p:nvSpPr>
        <p:spPr>
          <a:xfrm rot="16200000">
            <a:off x="10681687" y="3179413"/>
            <a:ext cx="2493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Software </a:t>
            </a:r>
          </a:p>
        </p:txBody>
      </p:sp>
    </p:spTree>
    <p:extLst>
      <p:ext uri="{BB962C8B-B14F-4D97-AF65-F5344CB8AC3E}">
        <p14:creationId xmlns:p14="http://schemas.microsoft.com/office/powerpoint/2010/main" val="1569661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2CC81E2-5B1D-2F72-4FEC-8C75A86ED82E}"/>
              </a:ext>
            </a:extLst>
          </p:cNvPr>
          <p:cNvGrpSpPr/>
          <p:nvPr/>
        </p:nvGrpSpPr>
        <p:grpSpPr>
          <a:xfrm>
            <a:off x="139699" y="-26069"/>
            <a:ext cx="12052301" cy="6858000"/>
            <a:chOff x="-774252" y="0"/>
            <a:chExt cx="13011006" cy="685800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5D2A29D-9894-0530-B164-0CC7DCDA2975}"/>
                </a:ext>
              </a:extLst>
            </p:cNvPr>
            <p:cNvSpPr/>
            <p:nvPr/>
          </p:nvSpPr>
          <p:spPr>
            <a:xfrm>
              <a:off x="-774252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0E1C027D-19AC-CC0B-3F4B-59D22E0B7069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210224E-EF20-B520-91E2-F97D645EA4C0}"/>
                </a:ext>
              </a:extLst>
            </p:cNvPr>
            <p:cNvSpPr txBox="1"/>
            <p:nvPr/>
          </p:nvSpPr>
          <p:spPr>
            <a:xfrm rot="16200000">
              <a:off x="10604513" y="30801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Introdução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Gráfico 10" descr="Lâmpada e engrenagem">
              <a:extLst>
                <a:ext uri="{FF2B5EF4-FFF2-40B4-BE49-F238E27FC236}">
                  <a16:creationId xmlns:a16="http://schemas.microsoft.com/office/drawing/2014/main" id="{C4B7AE4F-C52B-0A26-8F73-76C3E77ED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538482" y="3116847"/>
              <a:ext cx="749968" cy="749968"/>
            </a:xfrm>
            <a:prstGeom prst="rect">
              <a:avLst/>
            </a:prstGeom>
          </p:spPr>
        </p:pic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DE86098-6D83-031D-AFA1-BADE9B2D3A88}"/>
              </a:ext>
            </a:extLst>
          </p:cNvPr>
          <p:cNvGrpSpPr/>
          <p:nvPr/>
        </p:nvGrpSpPr>
        <p:grpSpPr>
          <a:xfrm>
            <a:off x="-373493" y="-13370"/>
            <a:ext cx="12034571" cy="6858000"/>
            <a:chOff x="-774253" y="0"/>
            <a:chExt cx="12991866" cy="6858000"/>
          </a:xfrm>
        </p:grpSpPr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2BD1F0C1-B603-CF43-1519-7B4AC0303E58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48E12423-7D87-714D-96FC-174D55CF4EEB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185F81B9-574A-7F34-75A7-3E59767D0892}"/>
                </a:ext>
              </a:extLst>
            </p:cNvPr>
            <p:cNvSpPr txBox="1"/>
            <p:nvPr/>
          </p:nvSpPr>
          <p:spPr>
            <a:xfrm rot="16200000">
              <a:off x="10471407" y="3066759"/>
              <a:ext cx="279466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Cronograma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28" name="Gráfico 27" descr="Lâmpada e engrenagem">
              <a:extLst>
                <a:ext uri="{FF2B5EF4-FFF2-40B4-BE49-F238E27FC236}">
                  <a16:creationId xmlns:a16="http://schemas.microsoft.com/office/drawing/2014/main" id="{A8B3AD44-E666-C0A9-5F88-453156BA3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3930E377-5411-F673-E2C8-19C81D768466}"/>
              </a:ext>
            </a:extLst>
          </p:cNvPr>
          <p:cNvGrpSpPr/>
          <p:nvPr/>
        </p:nvGrpSpPr>
        <p:grpSpPr>
          <a:xfrm>
            <a:off x="-950197" y="-671"/>
            <a:ext cx="12010844" cy="6858000"/>
            <a:chOff x="-773661" y="-12699"/>
            <a:chExt cx="12966252" cy="6858000"/>
          </a:xfrm>
        </p:grpSpPr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6B422F37-A226-E98F-ADF7-A826DE5B9568}"/>
                </a:ext>
              </a:extLst>
            </p:cNvPr>
            <p:cNvSpPr/>
            <p:nvPr/>
          </p:nvSpPr>
          <p:spPr>
            <a:xfrm>
              <a:off x="-773661" y="-12699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473726E1-9938-F0CB-C8BF-58F621174D7C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3519ED8E-99EB-83AE-0D0D-B3DC6D39AE0C}"/>
                </a:ext>
              </a:extLst>
            </p:cNvPr>
            <p:cNvSpPr txBox="1"/>
            <p:nvPr/>
          </p:nvSpPr>
          <p:spPr>
            <a:xfrm rot="16200000">
              <a:off x="10553154" y="30928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Software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Gráfico 32" descr="Lâmpada e engrenagem">
              <a:extLst>
                <a:ext uri="{FF2B5EF4-FFF2-40B4-BE49-F238E27FC236}">
                  <a16:creationId xmlns:a16="http://schemas.microsoft.com/office/drawing/2014/main" id="{CA696E02-3C1F-C4EB-0436-FFD0B1D00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C25484A-2DF1-1551-FC2C-7F006EACB96E}"/>
              </a:ext>
            </a:extLst>
          </p:cNvPr>
          <p:cNvGrpSpPr/>
          <p:nvPr/>
        </p:nvGrpSpPr>
        <p:grpSpPr>
          <a:xfrm>
            <a:off x="-10323998" y="-26069"/>
            <a:ext cx="12021952" cy="6858000"/>
            <a:chOff x="-774253" y="0"/>
            <a:chExt cx="12978243" cy="6858000"/>
          </a:xfrm>
        </p:grpSpPr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EC9C90F9-63AB-C311-7A11-A7227A41E3D0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7E0BB04-52D2-F9B2-2BDC-127BC1565B7E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C5BDDA21-5E72-01D0-7234-E5190EB0472E}"/>
                </a:ext>
              </a:extLst>
            </p:cNvPr>
            <p:cNvSpPr txBox="1"/>
            <p:nvPr/>
          </p:nvSpPr>
          <p:spPr>
            <a:xfrm rot="16200000">
              <a:off x="10571749" y="30801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Solução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8" name="Gráfico 37" descr="Lâmpada e engrenagem">
              <a:extLst>
                <a:ext uri="{FF2B5EF4-FFF2-40B4-BE49-F238E27FC236}">
                  <a16:creationId xmlns:a16="http://schemas.microsoft.com/office/drawing/2014/main" id="{33CEF27F-C86F-8881-ADD3-68A0898F8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CE452C1B-F8DC-E2A7-9663-A78EF7C62F6F}"/>
              </a:ext>
            </a:extLst>
          </p:cNvPr>
          <p:cNvSpPr txBox="1"/>
          <p:nvPr/>
        </p:nvSpPr>
        <p:spPr>
          <a:xfrm>
            <a:off x="2001813" y="-39439"/>
            <a:ext cx="699123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sz="36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Alavancar o que já temos pronto.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  <a:latin typeface="Tw Cen MT" panose="020B0602020104020603" pitchFamily="34" charset="0"/>
              </a:rPr>
              <a:t>Unir a solução software e hardware.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  <a:latin typeface="Tw Cen MT" panose="020B0602020104020603" pitchFamily="34" charset="0"/>
              </a:rPr>
              <a:t>Impressão do modelo 3D.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>
                <a:solidFill>
                  <a:schemeClr val="bg1"/>
                </a:solidFill>
                <a:latin typeface="Tw Cen MT" panose="020B0602020104020603" pitchFamily="34" charset="0"/>
              </a:rPr>
              <a:t>Teste finais.</a:t>
            </a:r>
            <a:endParaRPr lang="pt-BR" sz="36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PT" sz="360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894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2CC81E2-5B1D-2F72-4FEC-8C75A86ED82E}"/>
              </a:ext>
            </a:extLst>
          </p:cNvPr>
          <p:cNvGrpSpPr/>
          <p:nvPr/>
        </p:nvGrpSpPr>
        <p:grpSpPr>
          <a:xfrm>
            <a:off x="139699" y="-26069"/>
            <a:ext cx="12052301" cy="6858000"/>
            <a:chOff x="-774252" y="0"/>
            <a:chExt cx="13011006" cy="685800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5D2A29D-9894-0530-B164-0CC7DCDA2975}"/>
                </a:ext>
              </a:extLst>
            </p:cNvPr>
            <p:cNvSpPr/>
            <p:nvPr/>
          </p:nvSpPr>
          <p:spPr>
            <a:xfrm>
              <a:off x="-774252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0E1C027D-19AC-CC0B-3F4B-59D22E0B7069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210224E-EF20-B520-91E2-F97D645EA4C0}"/>
                </a:ext>
              </a:extLst>
            </p:cNvPr>
            <p:cNvSpPr txBox="1"/>
            <p:nvPr/>
          </p:nvSpPr>
          <p:spPr>
            <a:xfrm rot="16200000">
              <a:off x="10604513" y="30801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Introdução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Gráfico 10" descr="Lâmpada e engrenagem">
              <a:extLst>
                <a:ext uri="{FF2B5EF4-FFF2-40B4-BE49-F238E27FC236}">
                  <a16:creationId xmlns:a16="http://schemas.microsoft.com/office/drawing/2014/main" id="{C4B7AE4F-C52B-0A26-8F73-76C3E77ED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538482" y="3116847"/>
              <a:ext cx="749968" cy="749968"/>
            </a:xfrm>
            <a:prstGeom prst="rect">
              <a:avLst/>
            </a:prstGeom>
          </p:spPr>
        </p:pic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DE86098-6D83-031D-AFA1-BADE9B2D3A88}"/>
              </a:ext>
            </a:extLst>
          </p:cNvPr>
          <p:cNvGrpSpPr/>
          <p:nvPr/>
        </p:nvGrpSpPr>
        <p:grpSpPr>
          <a:xfrm>
            <a:off x="-363466" y="-26070"/>
            <a:ext cx="12034571" cy="6858000"/>
            <a:chOff x="-774253" y="0"/>
            <a:chExt cx="12991866" cy="6858000"/>
          </a:xfrm>
        </p:grpSpPr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2BD1F0C1-B603-CF43-1519-7B4AC0303E58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48E12423-7D87-714D-96FC-174D55CF4EEB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185F81B9-574A-7F34-75A7-3E59767D0892}"/>
                </a:ext>
              </a:extLst>
            </p:cNvPr>
            <p:cNvSpPr txBox="1"/>
            <p:nvPr/>
          </p:nvSpPr>
          <p:spPr>
            <a:xfrm rot="16200000">
              <a:off x="10471407" y="3066759"/>
              <a:ext cx="279466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Cronograma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28" name="Gráfico 27" descr="Lâmpada e engrenagem">
              <a:extLst>
                <a:ext uri="{FF2B5EF4-FFF2-40B4-BE49-F238E27FC236}">
                  <a16:creationId xmlns:a16="http://schemas.microsoft.com/office/drawing/2014/main" id="{A8B3AD44-E666-C0A9-5F88-453156BA3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3930E377-5411-F673-E2C8-19C81D768466}"/>
              </a:ext>
            </a:extLst>
          </p:cNvPr>
          <p:cNvGrpSpPr/>
          <p:nvPr/>
        </p:nvGrpSpPr>
        <p:grpSpPr>
          <a:xfrm>
            <a:off x="-903170" y="26069"/>
            <a:ext cx="12010845" cy="6858000"/>
            <a:chOff x="-774253" y="0"/>
            <a:chExt cx="12966253" cy="6858000"/>
          </a:xfrm>
        </p:grpSpPr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6B422F37-A226-E98F-ADF7-A826DE5B9568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473726E1-9938-F0CB-C8BF-58F621174D7C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3519ED8E-99EB-83AE-0D0D-B3DC6D39AE0C}"/>
                </a:ext>
              </a:extLst>
            </p:cNvPr>
            <p:cNvSpPr txBox="1"/>
            <p:nvPr/>
          </p:nvSpPr>
          <p:spPr>
            <a:xfrm rot="16200000">
              <a:off x="10553154" y="30928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Software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Gráfico 32" descr="Lâmpada e engrenagem">
              <a:extLst>
                <a:ext uri="{FF2B5EF4-FFF2-40B4-BE49-F238E27FC236}">
                  <a16:creationId xmlns:a16="http://schemas.microsoft.com/office/drawing/2014/main" id="{CA696E02-3C1F-C4EB-0436-FFD0B1D00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C25484A-2DF1-1551-FC2C-7F006EACB96E}"/>
              </a:ext>
            </a:extLst>
          </p:cNvPr>
          <p:cNvGrpSpPr/>
          <p:nvPr/>
        </p:nvGrpSpPr>
        <p:grpSpPr>
          <a:xfrm>
            <a:off x="-1946039" y="-26069"/>
            <a:ext cx="12021952" cy="6858000"/>
            <a:chOff x="-774253" y="0"/>
            <a:chExt cx="12978243" cy="6858000"/>
          </a:xfrm>
        </p:grpSpPr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EC9C90F9-63AB-C311-7A11-A7227A41E3D0}"/>
                </a:ext>
              </a:extLst>
            </p:cNvPr>
            <p:cNvSpPr/>
            <p:nvPr/>
          </p:nvSpPr>
          <p:spPr>
            <a:xfrm>
              <a:off x="-774253" y="0"/>
              <a:ext cx="129662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54000" dist="190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7E0BB04-52D2-F9B2-2BDC-127BC1565B7E}"/>
                </a:ext>
              </a:extLst>
            </p:cNvPr>
            <p:cNvSpPr/>
            <p:nvPr/>
          </p:nvSpPr>
          <p:spPr>
            <a:xfrm>
              <a:off x="10539662" y="1776662"/>
              <a:ext cx="1652338" cy="3304676"/>
            </a:xfrm>
            <a:custGeom>
              <a:avLst/>
              <a:gdLst>
                <a:gd name="connsiteX0" fmla="*/ 1171074 w 1171074"/>
                <a:gd name="connsiteY0" fmla="*/ 0 h 2342148"/>
                <a:gd name="connsiteX1" fmla="*/ 1171074 w 1171074"/>
                <a:gd name="connsiteY1" fmla="*/ 2342148 h 2342148"/>
                <a:gd name="connsiteX2" fmla="*/ 0 w 1171074"/>
                <a:gd name="connsiteY2" fmla="*/ 1171074 h 2342148"/>
                <a:gd name="connsiteX3" fmla="*/ 1171074 w 1171074"/>
                <a:gd name="connsiteY3" fmla="*/ 0 h 234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074" h="2342148">
                  <a:moveTo>
                    <a:pt x="1171074" y="0"/>
                  </a:moveTo>
                  <a:lnTo>
                    <a:pt x="1171074" y="2342148"/>
                  </a:lnTo>
                  <a:cubicBezTo>
                    <a:pt x="524308" y="2342148"/>
                    <a:pt x="0" y="1817840"/>
                    <a:pt x="0" y="1171074"/>
                  </a:cubicBezTo>
                  <a:cubicBezTo>
                    <a:pt x="0" y="524308"/>
                    <a:pt x="524308" y="0"/>
                    <a:pt x="1171074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C5BDDA21-5E72-01D0-7234-E5190EB0472E}"/>
                </a:ext>
              </a:extLst>
            </p:cNvPr>
            <p:cNvSpPr txBox="1"/>
            <p:nvPr/>
          </p:nvSpPr>
          <p:spPr>
            <a:xfrm rot="16200000">
              <a:off x="10571749" y="3080128"/>
              <a:ext cx="2566737" cy="697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600" b="1" dirty="0">
                  <a:solidFill>
                    <a:schemeClr val="bg2"/>
                  </a:solidFill>
                  <a:latin typeface="Tw Cen MT" panose="020B0602020104020603" pitchFamily="34" charset="0"/>
                  <a:cs typeface="Times New Roman" panose="02020603050405020304" pitchFamily="18" charset="0"/>
                </a:rPr>
                <a:t>Solução</a:t>
              </a:r>
              <a:endParaRPr lang="pt-BR" sz="3600" b="1" dirty="0">
                <a:solidFill>
                  <a:schemeClr val="bg2"/>
                </a:solidFill>
                <a:latin typeface="Tw Cen MT" panose="020B0602020104020603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8" name="Gráfico 37" descr="Lâmpada e engrenagem">
              <a:extLst>
                <a:ext uri="{FF2B5EF4-FFF2-40B4-BE49-F238E27FC236}">
                  <a16:creationId xmlns:a16="http://schemas.microsoft.com/office/drawing/2014/main" id="{33CEF27F-C86F-8881-ADD3-68A0898F8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615863" y="3027948"/>
              <a:ext cx="749968" cy="749968"/>
            </a:xfrm>
            <a:prstGeom prst="rect">
              <a:avLst/>
            </a:prstGeom>
          </p:spPr>
        </p:pic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B78323FD-9D9D-C6B4-C0DF-6E6D864711B0}"/>
              </a:ext>
            </a:extLst>
          </p:cNvPr>
          <p:cNvSpPr txBox="1"/>
          <p:nvPr/>
        </p:nvSpPr>
        <p:spPr>
          <a:xfrm>
            <a:off x="1075348" y="680484"/>
            <a:ext cx="7186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600" dirty="0">
                <a:solidFill>
                  <a:schemeClr val="bg1"/>
                </a:solidFill>
                <a:latin typeface="Tw Cen MT" panose="020B0602020104020603" pitchFamily="34" charset="0"/>
              </a:rPr>
              <a:t>Agradecemos a sua atenção!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endParaRPr lang="pt-BR" sz="360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0E1EAC-E0E0-840D-78EB-DC252173F41F}"/>
              </a:ext>
            </a:extLst>
          </p:cNvPr>
          <p:cNvSpPr txBox="1"/>
          <p:nvPr/>
        </p:nvSpPr>
        <p:spPr>
          <a:xfrm>
            <a:off x="-27559" y="2104562"/>
            <a:ext cx="79011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  <a:latin typeface="Tw Cen MT" panose="020B0602020104020603" pitchFamily="34" charset="0"/>
              </a:rPr>
              <a:t>Caio Ruiz de Souza</a:t>
            </a:r>
          </a:p>
          <a:p>
            <a:endParaRPr lang="pt-PT" sz="24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  <a:latin typeface="Tw Cen MT" panose="020B0602020104020603" pitchFamily="34" charset="0"/>
              </a:rPr>
              <a:t>Caio Eduardo Vieira da Silva</a:t>
            </a:r>
          </a:p>
          <a:p>
            <a:endParaRPr lang="pt-PT" sz="24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  <a:latin typeface="Tw Cen MT" panose="020B0602020104020603" pitchFamily="34" charset="0"/>
              </a:rPr>
              <a:t>Guilherme </a:t>
            </a:r>
            <a:r>
              <a:rPr lang="pt-PT" sz="2400" dirty="0" err="1">
                <a:solidFill>
                  <a:schemeClr val="bg1"/>
                </a:solidFill>
                <a:latin typeface="Tw Cen MT" panose="020B0602020104020603" pitchFamily="34" charset="0"/>
              </a:rPr>
              <a:t>Macario</a:t>
            </a:r>
            <a:r>
              <a:rPr lang="pt-PT" sz="2400" dirty="0">
                <a:solidFill>
                  <a:schemeClr val="bg1"/>
                </a:solidFill>
                <a:latin typeface="Tw Cen MT" panose="020B0602020104020603" pitchFamily="34" charset="0"/>
              </a:rPr>
              <a:t> da Silva</a:t>
            </a:r>
          </a:p>
          <a:p>
            <a:endParaRPr lang="pt-PT" sz="24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 err="1">
                <a:solidFill>
                  <a:schemeClr val="bg1"/>
                </a:solidFill>
                <a:latin typeface="Tw Cen MT" panose="020B0602020104020603" pitchFamily="34" charset="0"/>
              </a:rPr>
              <a:t>Kaique</a:t>
            </a:r>
            <a:r>
              <a:rPr lang="pt-PT" sz="2400" dirty="0">
                <a:solidFill>
                  <a:schemeClr val="bg1"/>
                </a:solidFill>
                <a:latin typeface="Tw Cen MT" panose="020B0602020104020603" pitchFamily="34" charset="0"/>
              </a:rPr>
              <a:t> Carvalho da Silva</a:t>
            </a:r>
          </a:p>
          <a:p>
            <a:endParaRPr lang="pt-PT" sz="2400" dirty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  <a:latin typeface="Tw Cen MT" panose="020B0602020104020603" pitchFamily="34" charset="0"/>
              </a:rPr>
              <a:t>Thierry Nathan P. Souza</a:t>
            </a:r>
            <a:r>
              <a:rPr lang="pt-PT" sz="2000" dirty="0"/>
              <a:t>	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962366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169</Words>
  <Application>Microsoft Office PowerPoint</Application>
  <PresentationFormat>Ecrã Panorâmico</PresentationFormat>
  <Paragraphs>78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Gotham HTF Bold</vt:lpstr>
      <vt:lpstr>Tw Cen MT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THIERRY NATHAN PEREIRA DE SOUZA</dc:creator>
  <cp:lastModifiedBy>THIERRY NATHAN PEREIRA DE SOUZA</cp:lastModifiedBy>
  <cp:revision>6</cp:revision>
  <dcterms:created xsi:type="dcterms:W3CDTF">2022-05-04T19:12:27Z</dcterms:created>
  <dcterms:modified xsi:type="dcterms:W3CDTF">2022-06-17T16:06:52Z</dcterms:modified>
</cp:coreProperties>
</file>